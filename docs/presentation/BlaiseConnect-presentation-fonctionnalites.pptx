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Bienvenue. Cette présentation montre, écran par écran, ce que BlaiseConnect apporte à un établissement : l'administration, les enseignants et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les difficultés quotidiennes d'une école, puis la réponse : un outil unique, simple, accessible partout, où chacun a son 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espaces, un seul compte par personne. L'administration pilote, les enseignants saisissent, les élèves consultent.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L'accès se fait avec un matricule personnel. Les mots de passe sont hachés, les comptes se verrouillent après des échecs répétés, et la session expire après 15 minutes d'inactivité.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Dès la connexion, la direction voit ce qui demande son attention. Chaque carte renvoie directement vers la page concernée.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crée une personne et son compte en une seule étape. La liste des élèves se filtre par classe, année ou statut. Les comptes archivés conservent leur historique.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élève a un dossier unique. L'onglet Scolarité résume ses absences, ses évaluations et sa moyenne de l'année en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enseignants sont affectés à des matières dans des classes. En cas de remplacement, l'emploi du temps est transféré automatiquement. Les responsables légaux sont rattachés aux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L'année scolaire est le cadre de tout le reste. Les périodes servent à construire les bulletins. À la clôture, rien n'est effacé : l'historique est conservé.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classe appartient à une année. Sa fiche rassemble l'effectif, les matières et les enseignants.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définit les matières une fois, puis on les rattache aux classes avec un coefficient. L'affectation d'un enseignant à une matière dans une classe lui ouvre la saisie des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classe a son planning. Il est publié pour les élèves et les enseignants. Les pauses sont configurables.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L'administrateur choisit entre une création manuelle, créneau par créneau, ou une génération automatique. Un seul brouillon existe à la fois. Les conflits sont signalés avant la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enseignants créent leurs évaluations et saisissent les notes sur une feuille collective. Toute correction passe par une demande validée par l'administration, avec traçabilité.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L'appel produit un historique des absences et des retards. Les justificatifs sont traités par l'administration. Chaque correction est conservée avec son motif.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bulletin est généré depuis les notes. L'administration contrôle, puis valide : un bulletin validé est figé. L'export PDF est en cours de finalisation graphique.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L'enseignant n'a accès qu'à ses classes et à ses matières. Il voit son emploi du temps et gère ses évaluations.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élèves consultent leurs notes et leur planning depuis leur téléphone. Aucune installation : un simple navigateur.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même espace s'adapte à l'écran : tableau de bord complet sur ordinateur, navigation tactile sur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la première prise en main, l'administrateur peut lancer une visite guidée : chaque étape met en évidence la rubrique et explique à quoi elle 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sécurité repose sur plusieurs couches. Pour les données d'élèves (mineurs), un contrat de sous-traitance RGPD est signé avec chaque école.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la direction produit. Insister sur le caractère indicatif : les priorités se décident avec les écoles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Proposition de déroulé. Les durées et les modalités commerciales sont à définir avec chaque établissement.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Compléter les coordonnées de contact avant la présentation.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31089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blaise-connect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960120"/>
            <a:ext cx="173736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Segoe UI"/>
              </a:rPr>
              <a:t>La plateforme de gestion scolaire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0" i="0">
                <a:solidFill>
                  <a:srgbClr val="C9D6EC"/>
                </a:solidFill>
                <a:latin typeface="Segoe UI"/>
              </a:rPr>
              <a:t>Administration, enseignants, élèves : toute la vie de l'établissement dans un seul outil.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 i="0">
                <a:solidFill>
                  <a:srgbClr val="CD9F29"/>
                </a:solidFill>
                <a:latin typeface="Segoe UI"/>
              </a:rPr>
              <a:t>Présentation des fonctionnalités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 i="0">
                <a:solidFill>
                  <a:srgbClr val="B9C6DB"/>
                </a:solidFill>
                <a:latin typeface="Segoe UI"/>
              </a:rPr>
              <a:t>Proposition à destination des établissements scolaires  • 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Pourquoi BlaiseConnect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4526280"/>
          </a:xfrm>
          <a:prstGeom prst="roundRect">
            <a:avLst>
              <a:gd name="adj" fmla="val 3000"/>
            </a:avLst>
          </a:prstGeom>
          <a:solidFill>
            <a:srgbClr val="FDEBEC"/>
          </a:solidFill>
          <a:ln w="9525">
            <a:solidFill>
              <a:srgbClr val="EFB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8E2222"/>
                </a:solidFill>
                <a:latin typeface="Segoe UI"/>
              </a:rPr>
              <a:t>Aujourd'hui, dans beaucoup d'écoles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5029200" cy="3840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Notes dispersées dans des cahiers et des fichiers Excel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Emplois du temps refaits à la main, avec des conflits de salles ou d'enseignants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Bulletins longs à produire, à calculer et à contrôler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Absences et justificatifs difficiles à suivre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Informations réparties entre plusieurs personnes, sans vue d'ensemble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00200"/>
            <a:ext cx="5440680" cy="4526280"/>
          </a:xfrm>
          <a:prstGeom prst="roundRect">
            <a:avLst>
              <a:gd name="adj" fmla="val 3000"/>
            </a:avLst>
          </a:prstGeom>
          <a:solidFill>
            <a:srgbClr val="E4FAEF"/>
          </a:solidFill>
          <a:ln w="9525">
            <a:solidFill>
              <a:srgbClr val="9BD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73736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125C3B"/>
                </a:solidFill>
                <a:latin typeface="Segoe UI"/>
              </a:rPr>
              <a:t>Avec BlaiseConnect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240280"/>
            <a:ext cx="5029200" cy="3840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Une seule plateforme, accessible depuis un navigateur ou un téléphone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Chaque personne voit uniquement ce qui la concerne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Moyennes et bulletins calculés automatiquement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Emplois du temps générés sans chevauchement</a:t>
            </a:r>
          </a:p>
          <a:p>
            <a:pPr marL="201168" indent="-201168">
              <a:lnSpc>
                <a:spcPct val="108000"/>
              </a:lnSpc>
              <a:spcAft>
                <a:spcPts val="1200"/>
              </a:spcAft>
              <a:buClr>
                <a:srgbClr val="0147B6"/>
              </a:buClr>
              <a:buChar char="•"/>
            </a:pPr>
            <a:r>
              <a:rPr sz="1700" b="0" i="0">
                <a:solidFill>
                  <a:srgbClr val="172033"/>
                </a:solidFill>
                <a:latin typeface="Segoe UI"/>
              </a:rPr>
              <a:t>Un tableau de bord pour piloter l'établissement en un coup d'œil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Une plateforme, trois espaces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admin_dashboard.png"/>
          <p:cNvPicPr>
            <a:picLocks noChangeAspect="1"/>
          </p:cNvPicPr>
          <p:nvPr/>
        </p:nvPicPr>
        <p:blipFill>
          <a:blip r:embed="rId2"/>
          <a:srcRect b="16620"/>
          <a:stretch>
            <a:fillRect/>
          </a:stretch>
        </p:blipFill>
        <p:spPr>
          <a:xfrm>
            <a:off x="731520" y="1783080"/>
            <a:ext cx="3246120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61188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 i="0">
                <a:solidFill>
                  <a:srgbClr val="00275A"/>
                </a:solidFill>
                <a:latin typeface="Segoe UI"/>
              </a:rPr>
              <a:t>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324612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Comptes, classes, matières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Emplois du temps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Notes, absences, bulletins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Années scolaires et périodes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0_teacher_home.png"/>
          <p:cNvPicPr>
            <a:picLocks noChangeAspect="1"/>
          </p:cNvPicPr>
          <p:nvPr/>
        </p:nvPicPr>
        <p:blipFill>
          <a:blip r:embed="rId3"/>
          <a:srcRect b="16620"/>
          <a:stretch>
            <a:fillRect/>
          </a:stretch>
        </p:blipFill>
        <p:spPr>
          <a:xfrm>
            <a:off x="4526280" y="1783080"/>
            <a:ext cx="324612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361188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 i="0">
                <a:solidFill>
                  <a:srgbClr val="00275A"/>
                </a:solidFill>
                <a:latin typeface="Segoe UI"/>
              </a:rPr>
              <a:t>Enseignants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69080"/>
            <a:ext cx="324612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Emploi du temps personnel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Évaluations et saisie des notes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Demandes de correction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Suivi de leurs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61188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50_student_home_mobile.png"/>
          <p:cNvPicPr>
            <a:picLocks noChangeAspect="1"/>
          </p:cNvPicPr>
          <p:nvPr/>
        </p:nvPicPr>
        <p:blipFill>
          <a:blip r:embed="rId4"/>
          <a:srcRect b="75919"/>
          <a:stretch>
            <a:fillRect/>
          </a:stretch>
        </p:blipFill>
        <p:spPr>
          <a:xfrm>
            <a:off x="8321040" y="1783080"/>
            <a:ext cx="3246120" cy="1691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1040" y="361188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800" b="1" i="0">
                <a:solidFill>
                  <a:srgbClr val="00275A"/>
                </a:solidFill>
                <a:latin typeface="Segoe UI"/>
              </a:rPr>
              <a:t>Élèves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069080"/>
            <a:ext cx="324612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Notes et moyennes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Emploi du temps de la semaine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Absences et justificatifs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400" b="0" i="0">
                <a:solidFill>
                  <a:srgbClr val="172033"/>
                </a:solidFill>
                <a:latin typeface="Segoe UI"/>
              </a:rPr>
              <a:t>Conçu pour le téléphone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ACCÈS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Une connexion simple et sécurisée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Matricule personnel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et mot de passe pour chaque utilisateur.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Mots de passe protégés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jamais stockés en clair (hachage argon2id).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Verrouillage temporaire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après plusieurs échecs de connexion.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Session fermée automatiquement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après 15 minutes d'inactivité.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Droits d'accès par rôle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administrateur, enseignant ou élève.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15" y="1444752"/>
            <a:ext cx="694944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Un tableau de bord pour piloter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450" b="1" i="0">
                <a:solidFill>
                  <a:srgbClr val="00275A"/>
                </a:solidFill>
                <a:latin typeface="Segoe UI"/>
              </a:rPr>
              <a:t>Quatre indicateurs d'action : </a:t>
            </a:r>
            <a:r>
              <a:rPr sz="1450" b="0" i="0">
                <a:solidFill>
                  <a:srgbClr val="172033"/>
                </a:solidFill>
                <a:latin typeface="Segoe UI"/>
              </a:rPr>
              <a:t>justificatifs à vérifier, évaluations incomplètes, demandes de correction, bulletins à valider.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450" b="1" i="0">
                <a:solidFill>
                  <a:srgbClr val="00275A"/>
                </a:solidFill>
                <a:latin typeface="Segoe UI"/>
              </a:rPr>
              <a:t>Performance de l'établissement </a:t>
            </a:r>
            <a:r>
              <a:rPr sz="1450" b="0" i="0">
                <a:solidFill>
                  <a:srgbClr val="172033"/>
                </a:solidFill>
                <a:latin typeface="Segoe UI"/>
              </a:rPr>
              <a:t>par cycle, période après période.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450" b="1" i="0">
                <a:solidFill>
                  <a:srgbClr val="00275A"/>
                </a:solidFill>
                <a:latin typeface="Segoe UI"/>
              </a:rPr>
              <a:t>Suivi des absences : </a:t>
            </a:r>
            <a:r>
              <a:rPr sz="1450" b="0" i="0">
                <a:solidFill>
                  <a:srgbClr val="172033"/>
                </a:solidFill>
                <a:latin typeface="Segoe UI"/>
              </a:rPr>
              <a:t>élèves à surveiller en cas d'absences répétées.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450" b="1" i="0">
                <a:solidFill>
                  <a:srgbClr val="00275A"/>
                </a:solidFill>
                <a:latin typeface="Segoe UI"/>
              </a:rPr>
              <a:t>Activité récente </a:t>
            </a:r>
            <a:r>
              <a:rPr sz="1450" b="0" i="0">
                <a:solidFill>
                  <a:srgbClr val="172033"/>
                </a:solidFill>
                <a:latin typeface="Segoe UI"/>
              </a:rPr>
              <a:t>pour savoir ce qui vient de se passer.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450" b="1" i="0">
                <a:solidFill>
                  <a:srgbClr val="00275A"/>
                </a:solidFill>
                <a:latin typeface="Segoe UI"/>
              </a:rPr>
              <a:t>Accès direct </a:t>
            </a:r>
            <a:r>
              <a:rPr sz="1450" b="0" i="0">
                <a:solidFill>
                  <a:srgbClr val="172033"/>
                </a:solidFill>
                <a:latin typeface="Segoe UI"/>
              </a:rPr>
              <a:t>à chaque sujet en un clic.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15" y="1444752"/>
            <a:ext cx="694944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Gestion des comptes et des élèves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Création en une seule opération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compte et dossier de la personne.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Matricule généré automatiquement,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photo et identité.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Rôles distincts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élèves, enseignants, administrateurs.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Recherche et filtres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par classe, année ou statut.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Comptes actifs, désactivés ou archivés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l'historique n'est jamais perdu.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Un compte = un rôle,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avec les droits qui vont avec.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Liste des élèves, avec recherche et filtres</a:t>
            </a:r>
          </a:p>
        </p:txBody>
      </p:sp>
      <p:pic>
        <p:nvPicPr>
          <p:cNvPr id="14" name="Picture 13" descr="02_admin_students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Création d'un compte et de son profil</a:t>
            </a:r>
          </a:p>
        </p:txBody>
      </p:sp>
      <p:pic>
        <p:nvPicPr>
          <p:cNvPr id="21" name="Picture 20" descr="26_admin_account_new.png"/>
          <p:cNvPicPr>
            <a:picLocks noChangeAspect="1"/>
          </p:cNvPicPr>
          <p:nvPr/>
        </p:nvPicPr>
        <p:blipFill>
          <a:blip r:embed="rId3"/>
          <a:srcRect l="16670" b="35061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Le dossier complet de l'élève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Informations personnelles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et coordonnées.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Scolarité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absences, retards, évaluations notées, moyenne.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Historique des classes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et inscription ou désinscription d'une classe.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Responsables légaux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rattachés à l'élève, avec contact d'urgence.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Documents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liés au dossier.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51755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5_admin_student_details.png"/>
          <p:cNvPicPr>
            <a:picLocks noChangeAspect="1"/>
          </p:cNvPicPr>
          <p:nvPr/>
        </p:nvPicPr>
        <p:blipFill>
          <a:blip r:embed="rId2"/>
          <a:srcRect l="16670" b="16003"/>
          <a:stretch>
            <a:fillRect/>
          </a:stretch>
        </p:blipFill>
        <p:spPr>
          <a:xfrm>
            <a:off x="4693615" y="1444752"/>
            <a:ext cx="6949440" cy="48646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Enseignants et responsables légaux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Enseignants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comptes, statut, matières et classes affectées.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Remplacement en cours d'année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le nouveau titulaire reprend l'emploi du temps et peut consulter les notes déjà saisies.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Responsables légaux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coordonnées, profession, lien avec chaque élève.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Un responsable peut suivre plusieurs enfants,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un enfant peut avoir plusieurs responsables.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Liste des enseignants</a:t>
            </a:r>
          </a:p>
        </p:txBody>
      </p:sp>
      <p:pic>
        <p:nvPicPr>
          <p:cNvPr id="14" name="Picture 13" descr="03_admin_teachers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Responsables légaux</a:t>
            </a:r>
          </a:p>
        </p:txBody>
      </p:sp>
      <p:pic>
        <p:nvPicPr>
          <p:cNvPr id="21" name="Picture 20" descr="05_admin_guardians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Années scolaires et périodes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Une année courante à la fois,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avec ses dates de début et de fin.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Périodes de bulletin libres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mois, trimestres ou semestres, au choix de l'école.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Clôture de l'année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inscriptions terminées, historique conservé.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Suppression d'une année non clôturée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possible avec une confirmation renforcée.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admin_school_years.png"/>
          <p:cNvPicPr>
            <a:picLocks noChangeAspect="1"/>
          </p:cNvPicPr>
          <p:nvPr/>
        </p:nvPicPr>
        <p:blipFill>
          <a:blip r:embed="rId2"/>
          <a:srcRect l="16670" b="54037"/>
          <a:stretch>
            <a:fillRect/>
          </a:stretch>
        </p:blipFill>
        <p:spPr>
          <a:xfrm>
            <a:off x="4693615" y="1444752"/>
            <a:ext cx="6949440" cy="2395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Classes et effectifs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Création des classes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par niveau et par groupe, avec une capacité.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Professeur principal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obligatoire pour chaque classe.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Fiche de classe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élèves inscrits, matières, enseignants, résumé.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Matières de la classe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avec leur coefficient et leur enseignant.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Liste des classes</a:t>
            </a:r>
          </a:p>
        </p:txBody>
      </p:sp>
      <p:pic>
        <p:nvPicPr>
          <p:cNvPr id="14" name="Picture 13" descr="07_admin_classes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Fiche d'une classe</a:t>
            </a:r>
          </a:p>
        </p:txBody>
      </p:sp>
      <p:pic>
        <p:nvPicPr>
          <p:cNvPr id="21" name="Picture 20" descr="24_admin_class_details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Matières et enseignants affectés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Catalogue des matières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de l'établissement, avec leur description.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Enseignants affectés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visibles pour chaque matière.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Coefficients par classe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pour la moyenne générale.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Matières de spécialité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pour le lycée.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Une affectation précise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autorise l'enseignant à saisir des notes dans sa classe.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51755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admin_subjects.png"/>
          <p:cNvPicPr>
            <a:picLocks noChangeAspect="1"/>
          </p:cNvPicPr>
          <p:nvPr/>
        </p:nvPicPr>
        <p:blipFill>
          <a:blip r:embed="rId2"/>
          <a:srcRect l="16670" b="6670"/>
          <a:stretch>
            <a:fillRect/>
          </a:stretch>
        </p:blipFill>
        <p:spPr>
          <a:xfrm>
            <a:off x="4693615" y="1444752"/>
            <a:ext cx="6949440" cy="48646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EMPLOI DU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L'emploi du temps de chaque classe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Planning hebdomadaire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par classe, en vue semaine ou jour.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Dates réelles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affichées pour chaque journée.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Récréations et pause déjeuner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intégrées à la grille.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Publication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élèves et enseignants voient le planning validé.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Couleurs par matière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pour une lecture immédiate.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9303" y="1161288"/>
            <a:ext cx="4901183" cy="51755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96735" y="1188720"/>
            <a:ext cx="484632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0646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6191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1735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1_admin_timetable_published.png"/>
          <p:cNvPicPr>
            <a:picLocks noChangeAspect="1"/>
          </p:cNvPicPr>
          <p:nvPr/>
        </p:nvPicPr>
        <p:blipFill>
          <a:blip r:embed="rId2"/>
          <a:srcRect l="16670" b="8195"/>
          <a:stretch>
            <a:fillRect/>
          </a:stretch>
        </p:blipFill>
        <p:spPr>
          <a:xfrm>
            <a:off x="6796735" y="1444752"/>
            <a:ext cx="4846320" cy="48646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EMPLOI DU TEMPS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Créer le planning : manuel ou automatique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Génération automatique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à partir des volumes horaires de chaque matière, sur une période choisie.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Aucun chevauchement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un enseignant, une salle ou une classe n'est jamais à deux endroits à la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Brouillon avant publication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l'administrateur contrôle puis publie.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Alerte de conflits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avant la publication, avec le détail de chaque problème.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Planning publié et indicateurs</a:t>
            </a:r>
          </a:p>
        </p:txBody>
      </p:sp>
      <p:pic>
        <p:nvPicPr>
          <p:cNvPr id="14" name="Picture 13" descr="20_admin_timetable_overview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Choix du mode de création</a:t>
            </a:r>
          </a:p>
        </p:txBody>
      </p:sp>
      <p:pic>
        <p:nvPicPr>
          <p:cNvPr id="21" name="Picture 20" descr="22_admin_timetable_build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NOTES ET ÉVALUATIONS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Évaluations et saisie des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Création d'évaluations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titre, matière, date, barème, coefficient.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Feuille de notes collective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toute la classe sur un seul écran.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Suivi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résultats saisis et manquants.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Absents à une évaluation,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avec justification.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Statistiques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d'une évaluation : moyenne, meilleure et plus faible note.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Corrections encadrées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demande de l'enseignant, validation de l'administration.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Suivi des évaluations de l'établissement</a:t>
            </a:r>
          </a:p>
        </p:txBody>
      </p:sp>
      <p:pic>
        <p:nvPicPr>
          <p:cNvPr id="14" name="Picture 13" descr="11_admin_notes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Feuille de notes d'une évaluation</a:t>
            </a:r>
          </a:p>
        </p:txBody>
      </p:sp>
      <p:pic>
        <p:nvPicPr>
          <p:cNvPr id="21" name="Picture 20" descr="27_admin_notes_sheet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VIE SCOLAIRE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Absences, retards et justificatifs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Appel en cours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l'enseignant signale absences et retards.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Compteurs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d'absences, de retards et de justificatifs en attente.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Justificatifs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justifiée, refusée, en attente ou non justifiée.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Suivi de l'assiduité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élève par élève.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Corrections traçables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avec leur motif.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51755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_admin_attendance.png"/>
          <p:cNvPicPr>
            <a:picLocks noChangeAspect="1"/>
          </p:cNvPicPr>
          <p:nvPr/>
        </p:nvPicPr>
        <p:blipFill>
          <a:blip r:embed="rId2"/>
          <a:srcRect l="16670" b="6670"/>
          <a:stretch>
            <a:fillRect/>
          </a:stretch>
        </p:blipFill>
        <p:spPr>
          <a:xfrm>
            <a:off x="4693615" y="1444752"/>
            <a:ext cx="6949440" cy="48646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BULLETINS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Des bulletins fiables, de la génération à la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Génération à partir des notes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de la période choisie.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Moyennes, coefficients et rang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calculés automatiquement.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Contrôle puis validation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un bulletin validé n'est plus modifiable.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Impression et export PDF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(mise en forme en cours de finalisation).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Suivi des bulletins par classe et période</a:t>
            </a:r>
          </a:p>
        </p:txBody>
      </p:sp>
      <p:pic>
        <p:nvPicPr>
          <p:cNvPr id="14" name="Picture 13" descr="13_admin_report_cards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Détail d'un bulletin</a:t>
            </a:r>
          </a:p>
        </p:txBody>
      </p:sp>
      <p:pic>
        <p:nvPicPr>
          <p:cNvPr id="21" name="Picture 20" descr="28_admin_report_card_details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ESPACE ENSEIGNANT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Tout ce dont l'enseignant a besoin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Mon emploi du temps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tous ses cours de la semaine, toutes classes confondues.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Accès à ses classes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et à la liste de leurs élèves.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Évaluations et notes :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création et saisie pour ses matières.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Demande de correction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en cas d'erreur de saisie.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Emploi du temps de l'enseignant</a:t>
            </a:r>
          </a:p>
        </p:txBody>
      </p:sp>
      <p:pic>
        <p:nvPicPr>
          <p:cNvPr id="14" name="Picture 13" descr="41_teacher_timetable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Évaluations de l'enseignant</a:t>
            </a:r>
          </a:p>
        </p:txBody>
      </p:sp>
      <p:pic>
        <p:nvPicPr>
          <p:cNvPr id="21" name="Picture 20" descr="42_teacher_notes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ESPACE ÉLÈVE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Pensé pour le téléphone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Accueil personnalisé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avec accès direct aux rubriques.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Mes notes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moyenne générale, moyennes par matière, dernières évaluations.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Mon emploi du temps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un jour à la fois, d'un geste.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Mes absences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et mes justificatifs.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Barre de navigation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en bas de l'écran, comme une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55464" y="1106424"/>
            <a:ext cx="2256119" cy="4690872"/>
          </a:xfrm>
          <a:prstGeom prst="roundRect">
            <a:avLst>
              <a:gd name="adj" fmla="val 9000"/>
            </a:avLst>
          </a:prstGeom>
          <a:solidFill>
            <a:srgbClr val="1B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50_student_hom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2091527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267031" y="1106424"/>
            <a:ext cx="2256119" cy="4690872"/>
          </a:xfrm>
          <a:prstGeom prst="roundRect">
            <a:avLst>
              <a:gd name="adj" fmla="val 9000"/>
            </a:avLst>
          </a:prstGeom>
          <a:solidFill>
            <a:srgbClr val="1B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1_student_grades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327" y="1188720"/>
            <a:ext cx="2091527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78598" y="1106424"/>
            <a:ext cx="2256119" cy="4690872"/>
          </a:xfrm>
          <a:prstGeom prst="roundRect">
            <a:avLst>
              <a:gd name="adj" fmla="val 9000"/>
            </a:avLst>
          </a:prstGeom>
          <a:solidFill>
            <a:srgbClr val="1B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2_student_timetable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894" y="1188720"/>
            <a:ext cx="2091527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ESPACE ÉLÈVE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Et sur ordinateur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Notes par période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avec la tendance par rapport à la période précédente.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Prochaines évaluations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annoncées à l'avance.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44068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Grille hebdomadaire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avec les matières, enseignants et salles.</a:t>
            </a:r>
          </a:p>
          <a:p>
            <a:pPr marL="201168" indent="-201168">
              <a:lnSpc>
                <a:spcPct val="108000"/>
              </a:lnSpc>
              <a:spcAft>
                <a:spcPts val="400"/>
              </a:spcAft>
              <a:buClr>
                <a:srgbClr val="0147B6"/>
              </a:buClr>
              <a:buChar char="•"/>
            </a:pPr>
            <a:r>
              <a:rPr sz="1350" b="1" i="0">
                <a:solidFill>
                  <a:srgbClr val="00275A"/>
                </a:solidFill>
                <a:latin typeface="Segoe UI"/>
              </a:rPr>
              <a:t>Même compte, </a:t>
            </a:r>
            <a:r>
              <a:rPr sz="1350" b="0" i="0">
                <a:solidFill>
                  <a:srgbClr val="172033"/>
                </a:solidFill>
                <a:latin typeface="Segoe UI"/>
              </a:rPr>
              <a:t>sur tous les appareils.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Mes notes</a:t>
            </a:r>
          </a:p>
        </p:txBody>
      </p:sp>
      <p:pic>
        <p:nvPicPr>
          <p:cNvPr id="14" name="Picture 13" descr="54_student_grades_desktop.png"/>
          <p:cNvPicPr>
            <a:picLocks noChangeAspect="1"/>
          </p:cNvPicPr>
          <p:nvPr/>
        </p:nvPicPr>
        <p:blipFill>
          <a:blip r:embed="rId2"/>
          <a:srcRect l="16670" b="27846"/>
          <a:stretch>
            <a:fillRect/>
          </a:stretch>
        </p:blipFill>
        <p:spPr>
          <a:xfrm>
            <a:off x="548640" y="3410712"/>
            <a:ext cx="5440680" cy="2944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44768" y="3127248"/>
            <a:ext cx="5495544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44068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37376" y="323697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92824" y="323697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172968"/>
            <a:ext cx="4709160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950" b="1" i="0">
                <a:solidFill>
                  <a:srgbClr val="5F6C80"/>
                </a:solidFill>
                <a:latin typeface="Segoe UI"/>
              </a:rPr>
              <a:t>Mon emploi du temps</a:t>
            </a:r>
          </a:p>
        </p:txBody>
      </p:sp>
      <p:pic>
        <p:nvPicPr>
          <p:cNvPr id="21" name="Picture 20" descr="55_student_timetable_desktop.png"/>
          <p:cNvPicPr>
            <a:picLocks noChangeAspect="1"/>
          </p:cNvPicPr>
          <p:nvPr/>
        </p:nvPicPr>
        <p:blipFill>
          <a:blip r:embed="rId3"/>
          <a:srcRect l="16670" b="27846"/>
          <a:stretch>
            <a:fillRect/>
          </a:stretch>
        </p:blipFill>
        <p:spPr>
          <a:xfrm>
            <a:off x="6172200" y="3410712"/>
            <a:ext cx="5440680" cy="2944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PRISE EN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Une visite guidée intégrée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41148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11 étapes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qui présentent chaque rubrique.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Dans l'ordre logique de mise en place :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année, classes, matières, enseignants, élèves, emploi du temps, notes, bulletins.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Relançable à tout moment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depuis le menu.</a:t>
            </a:r>
          </a:p>
          <a:p>
            <a:pPr marL="201168" indent="-201168">
              <a:lnSpc>
                <a:spcPct val="108000"/>
              </a:lnSpc>
              <a:spcAft>
                <a:spcPts val="700"/>
              </a:spcAft>
              <a:buClr>
                <a:srgbClr val="0147B6"/>
              </a:buClr>
              <a:buChar char="•"/>
            </a:pPr>
            <a:r>
              <a:rPr sz="1500" b="1" i="0">
                <a:solidFill>
                  <a:srgbClr val="00275A"/>
                </a:solidFill>
                <a:latin typeface="Segoe UI"/>
              </a:rPr>
              <a:t>Fonctionne sur téléphone </a:t>
            </a:r>
            <a:r>
              <a:rPr sz="1500" b="0" i="0">
                <a:solidFill>
                  <a:srgbClr val="172033"/>
                </a:solidFill>
                <a:latin typeface="Segoe UI"/>
              </a:rPr>
              <a:t>comme sur ordinateur.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6183" y="1161288"/>
            <a:ext cx="7004303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93615" y="1188720"/>
            <a:ext cx="6949440" cy="256032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03343" y="1271016"/>
            <a:ext cx="91440" cy="91440"/>
          </a:xfrm>
          <a:prstGeom prst="ellipse">
            <a:avLst/>
          </a:prstGeom>
          <a:solidFill>
            <a:srgbClr val="E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58791" y="1271016"/>
            <a:ext cx="91440" cy="91440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14239" y="1271016"/>
            <a:ext cx="91440" cy="91440"/>
          </a:xfrm>
          <a:prstGeom prst="ellipse">
            <a:avLst/>
          </a:prstGeom>
          <a:solidFill>
            <a:srgbClr val="5CC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0_admin_guided_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15" y="1444752"/>
            <a:ext cx="6949440" cy="434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CONFIANCE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Sécurité et protection des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821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Accès par 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0370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Chacun voit et modifie uniquement ce que son rôle autorise.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60020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764792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2821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Mots de passe protégés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20370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Hachage robuste, jamais de mot de passe en clair.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60020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764792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72821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Sessions sécurisées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20370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Cookie protégé, expiration automatique, verrouillage après échecs.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3" y="160020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3" y="1764792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3" y="172821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Protection du navigateur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3" y="220370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En-têtes de sécurité HTTP et origines autorisées.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96512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5993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Bulletins figés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3542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Un bulletin validé ne peut plus être modifié.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55848" y="393192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5848" y="4096512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8728" y="405993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Corrections tracées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8728" y="453542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Chaque correction de note ou d'absence garde son auteur et son motif.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5" y="393192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5" y="4096512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405993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Intégrité des données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453542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Les règles sont contrôlées par la base de données elle-même.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70263" y="3931920"/>
            <a:ext cx="26517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3" y="4096512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3143" y="4059936"/>
            <a:ext cx="23317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Cadre RGPD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3" y="4535424"/>
            <a:ext cx="23317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250" b="0" i="0">
                <a:solidFill>
                  <a:srgbClr val="5F6C80"/>
                </a:solidFill>
                <a:latin typeface="Segoe UI"/>
              </a:rPr>
              <a:t>Contrat de sous-traitance, hébergement en Union européenne (prévu).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ÉVOLUTIONS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Feuille de route indicative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64792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28216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Plusieurs établissements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03704"/>
            <a:ext cx="3291840" cy="14173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Données strictement séparées entre écoles, avec la personnalisation propre à chacune.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6002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764792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728216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Espace familles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03704"/>
            <a:ext cx="3291840" cy="14173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Comptes des responsables légaux pour suivre notes, absences et bulletins.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002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764792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728216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Appréciations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203704"/>
            <a:ext cx="3291840" cy="14173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Saisie des appréciations par les enseignants pour enrichir les bulletins.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50791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14215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Bulletins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9704"/>
            <a:ext cx="3291840" cy="14173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Mise en page finale et personnalisable aux couleurs de l'école.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8862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4050791"/>
            <a:ext cx="64008" cy="457200"/>
          </a:xfrm>
          <a:prstGeom prst="rect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8" y="4014215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Export des données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489704"/>
            <a:ext cx="3291840" cy="14173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Récupération complète des données d'une école à tout moment.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886200"/>
            <a:ext cx="36118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4050791"/>
            <a:ext cx="64008" cy="45720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4014215"/>
            <a:ext cx="32918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4489704"/>
            <a:ext cx="3291840" cy="14173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Alertes pour les absences, les nouvelles notes et les publications.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0" i="1">
                <a:solidFill>
                  <a:srgbClr val="5F6C80"/>
                </a:solidFill>
                <a:latin typeface="Segoe UI"/>
              </a:rPr>
              <a:t>Ces évolutions sont indicatives et leur calendrier dépend des priorités validées avec les établissements.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 i="0">
                <a:solidFill>
                  <a:srgbClr val="0147B6"/>
                </a:solidFill>
                <a:latin typeface="Segoe UI"/>
              </a:rPr>
              <a:t>DÉMARRER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3000" b="1" i="0">
                <a:solidFill>
                  <a:srgbClr val="00275A"/>
                </a:solidFill>
                <a:latin typeface="Segoe UI"/>
              </a:rPr>
              <a:t>Mettre en place BlaiseConnect dans votre école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1872"/>
            <a:ext cx="822960" cy="45720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03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566928" cy="566928"/>
          </a:xfrm>
          <a:prstGeom prst="ellipse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182879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00275A"/>
                </a:solidFill>
                <a:latin typeface="Segoe UI"/>
              </a:rPr>
              <a:t>Cadrage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1828799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Échange sur vos besoins, vos niveaux, vos horaires et vos règles.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103120"/>
            <a:ext cx="2103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71800" y="2286000"/>
            <a:ext cx="566928" cy="566928"/>
          </a:xfrm>
          <a:prstGeom prst="ellipse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3017520"/>
            <a:ext cx="182879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00275A"/>
                </a:solidFill>
                <a:latin typeface="Segoe UI"/>
              </a:rPr>
              <a:t>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520440"/>
            <a:ext cx="1828799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Année scolaire, périodes de bulletin, horaires, salles, matières.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9" y="2103120"/>
            <a:ext cx="2103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79" y="2286000"/>
            <a:ext cx="566928" cy="566928"/>
          </a:xfrm>
          <a:prstGeom prst="ellipse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59" y="3017520"/>
            <a:ext cx="182879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00275A"/>
                </a:solidFill>
                <a:latin typeface="Segoe UI"/>
              </a:rPr>
              <a:t>Comptes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3520440"/>
            <a:ext cx="1828799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Classes, enseignants, élèves et responsables rattachés.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79" y="2103120"/>
            <a:ext cx="2103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52359" y="2286000"/>
            <a:ext cx="566928" cy="566928"/>
          </a:xfrm>
          <a:prstGeom prst="ellipse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017520"/>
            <a:ext cx="182879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00275A"/>
                </a:solidFill>
                <a:latin typeface="Segoe UI"/>
              </a:rPr>
              <a:t>Emplois du temps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520440"/>
            <a:ext cx="1828799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Génération automatique, contrôle puis publication.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59" y="2103120"/>
            <a:ext cx="210312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39" y="2286000"/>
            <a:ext cx="566928" cy="566928"/>
          </a:xfrm>
          <a:prstGeom prst="ellipse">
            <a:avLst/>
          </a:prstGeom>
          <a:solidFill>
            <a:srgbClr val="014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3017520"/>
            <a:ext cx="182879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1" i="0">
                <a:solidFill>
                  <a:srgbClr val="00275A"/>
                </a:solidFill>
                <a:latin typeface="Segoe UI"/>
              </a:rPr>
              <a:t>Prise en 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3520440"/>
            <a:ext cx="1828799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 i="0">
                <a:solidFill>
                  <a:srgbClr val="5F6C80"/>
                </a:solidFill>
                <a:latin typeface="Segoe UI"/>
              </a:rPr>
              <a:t>Visite guidée et accompagnement des équipes.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13832"/>
            <a:ext cx="1060704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r>
              <a:rPr sz="1400" b="1" i="0">
                <a:solidFill>
                  <a:srgbClr val="00275A"/>
                </a:solidFill>
                <a:latin typeface="Segoe UI"/>
              </a:rPr>
              <a:t>Après la mise en route : </a:t>
            </a:r>
            <a:r>
              <a:rPr sz="1400" b="0" i="0">
                <a:solidFill>
                  <a:srgbClr val="172033"/>
                </a:solidFill>
                <a:latin typeface="Segoe UI"/>
              </a:rPr>
              <a:t>support par e-mail, mises à jour régulières et évolutions décidées avec vous.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 i="0">
                <a:solidFill>
                  <a:srgbClr val="5F6C80"/>
                </a:solidFill>
                <a:latin typeface="Segoe UI"/>
              </a:rPr>
              <a:t>BlaiseConnect  •  Présentation des fonctionnalités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F6C8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CD9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200" b="0" i="0">
                <a:solidFill>
                  <a:srgbClr val="C9D6EC"/>
                </a:solidFill>
                <a:latin typeface="Segoe UI"/>
              </a:rPr>
              <a:t>Voyons ensemble comment BlaiseConnect peut simplifier la vie de votre établissement.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1" i="0">
                <a:solidFill>
                  <a:srgbClr val="CD9F29"/>
                </a:solidFill>
                <a:latin typeface="Segoe UI"/>
              </a:rPr>
              <a:t>Contact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Segoe UI"/>
              </a:rPr>
              <a:t>[Prénom NOM]  •  [adresse e-mail]  •  [téléphone]</a:t>
            </a:r>
          </a:p>
          <a:p>
            <a:r>
              <a:rPr sz="1400" b="0" i="0">
                <a:solidFill>
                  <a:srgbClr val="B9C6DB"/>
                </a:solidFill>
                <a:latin typeface="Segoe UI"/>
              </a:rPr>
              <a:t>[site web]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